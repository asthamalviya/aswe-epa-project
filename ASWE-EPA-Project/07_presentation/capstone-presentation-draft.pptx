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minutes. Key message: I built and piloted an AI assistant that answers developers' questions from the registry's own documentation, with a source cited in every answer.
"I am [role] on the registry's delivery team. Over the last 12 months, all 8 features we started began with a 3 to 5 day investigation spike, and 6 needed an extra sprint."
"Over 12 weeks I designed, built and piloted a retrieval-augmented assistant with 10 developers. [Result in one sentence]."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minutes. Spikes take about a quarter of each feature's timeline; the registry's strategy commits to efficient digital delivery (K1).
Why non-routine (S16): no single owner, requirements unclear at the start and expected to emerge through the pilot.
Who is affected: developers, new joiners, knowledge holders, delivery manager.
Root cause (Five Whys): [the chain you actually followed].
One quote from a developer interview: [to complete].
Do NOT use the Module 5 waste and ROI totals (592,000 and 296,000 pounds); they do not reconcile.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2.5 minutes. Why two platforms first: highest value and lowest data protection risk. Slack holds personal data, so it waits for Phase 2 and a data protection impact assessment.
Give one example of a legal or ethical requirement changing the design: mandatory citations, exclusion of restricted repositories, content minimised in audit logs (S3, B3).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2.5 minutes. Distinction S1: justify the technology chosen for each role (retrieval, vector store, model, interface) and who it serves.
Distinction S18 sentence: "I used Five Whys for root cause and value stream mapping for where time went, because the problem was lost time across a process, not a single fault. I considered a survey alone and rejected it because [reason]."
K4 evaluation: one limit of the decision matrix (weights are subjective) and how you reduced it (e.g. weights agreed with stakeholders).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2.5 minutes. Distinction K5, S5 sentence: "I chose adapted Scrum over Waterfall because [e.g. sprint 3 benchmark results changed the chunking approach]. I adapted it by [e.g. shorter ceremonies for a solo developer]."
K15: work breakdown structure and effort estimates per sprint.
Tools: Jira, Confluence, GitHub and [tools actually used].
Stakeholders: pilot developers, Technical Architects panel, security, Finance, delivery manager, your manager.
Name the risk that actually materialised and point to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2.5 minutes. Verify every cell in the comparison table against your research before presenting.
How you researched: where you searched, how you judged sources.
Developer trust research is the reason for mandatory citations.
Distinction K18, S13: compare and contrast your solution with alternatives from research.
Distinction S17: name one weakness of the chosen solution you accepted knowingly, and how you contained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minutes. One design pattern and why, e.g. a replaceable model provider so the open-source fallback is a configuration change.
Explain the snippet in plain terms first, then the technical detail.
One technical challenge and how you solved it: [to complete].
Keep a screenshot fallback in case the demo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2.5 minutes. Test types and framework: unit, integration, end-to-end [framework and coverage].
Distinction K25 sentence: "The benchmark had the largest impact, because [reason]. Code review had less, because [reason]."
Say what the tests did not 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minutes. Honesty scores well here. A deviation handled well is stronger evidence than a plan that went perfectly.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minutes. State any missed KPI first and explain it; assessors test B5 (truthful) here.
In the Met? column use a tick or cross with text, not colour alone.
Note the pilot's limits: 10 developers over 2 weeks is a small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minutes. Distinction S22 sentence: "Compared with an off-the-shelf product, my build [e.g. kept data in the registry but took longer to reach accuracy]. If I did it again I would [change]."
Cover what worked and what did not across approach, method, analysis and outcome. Lessons learnt: two or three real ones. Strategic implications for the registry.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17920"/>
            <a:ext cx="745236" cy="411480"/>
          </a:xfrm>
          <a:prstGeom prst="roundRect">
            <a:avLst>
              <a:gd name="adj" fmla="val 33333"/>
            </a:avLst>
          </a:prstGeom>
          <a:solidFill>
            <a:srgbClr val="E8F1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knowledge search for software delivery teams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Design, build and pilot of a retrieval-augmented assistant at a UK government registry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feature started with a 3 to 5 day investigation spike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Built: 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assistant that answers from the registry's own documentation, citing a source every time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7498080" cy="64008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headline result, e.g. spike duration before and after the pilot]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your name]   |   Advanced Software Engineering Apprenticeship: Capstone Project   |   [To complete: date]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knowledge exists, but developers cannot find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1705356" cy="411480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  K1   S16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to 5 days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463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spike at the start of every feature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of 8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30175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needed an extra sprint in the last 12 months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72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+ 2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4572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and pipeline tools hold the knowledge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1463040"/>
            <a:ext cx="4206240" cy="448056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value stream map of a feature start, with the spike highlighted and its duration labelled]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narrow MVP with measurable success criteria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1705356" cy="411480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  B3   S16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023360" cy="2377440"/>
          </a:xfrm>
          <a:prstGeom prst="roundRect">
            <a:avLst>
              <a:gd name="adj" fmla="val 4615"/>
            </a:avLst>
          </a:prstGeom>
          <a:solidFill>
            <a:srgbClr val="E8F1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Confluence and GitHub indexing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with citations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interface and Slack bot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10-developer pilot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1F3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66344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other platforms (Phase 2)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a model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review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repositories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71600"/>
          <a:ext cx="6675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  <a:gridCol w="2651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Spike duration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to 5 days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target]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 accuracy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80%+ on 50 queries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 trust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 out of 5+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 time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NFR3]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937760" y="420624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Constraints: UK GDPR and data protection screening  |  government AI principles  |  security classification rules  |  data kept in registry or approved UK-region service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5394960"/>
            <a:ext cx="6675120" cy="68580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how scope was agreed, and with whom]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options compared; data residency decided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4873752" cy="411480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K2   K4   S1 (Distinction)   S18 (Distinction)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8F1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nothing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Spikes continue at 3 to 5 days per feature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build cost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8F1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554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Off-the-shelf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031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Glean, Guru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to start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residency risk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6F4F5"/>
          </a:solidFill>
          <a:ln w="317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554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Bespoke (chosen)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10312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stays in registry infrastructure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 designed in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maintenance effort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97680"/>
            <a:ext cx="5486400" cy="173736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recalculated decision matrix scores. The Module 5 totals do not add up]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297680"/>
            <a:ext cx="5394960" cy="173736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confirmed cost of chosen option. The £12,100 estimate is unconfirmed; recheck before quoting]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Adapted Scrum: six two-week sprints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3913632" cy="411480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K5, S5 (Distinction)   K15   K3   S2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 to 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and governance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1691640"/>
            <a:ext cx="105156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1371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718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1488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 to 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03320" y="1691640"/>
            <a:ext cx="105156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371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21488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 to 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engine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77840" y="1691640"/>
            <a:ext cx="105156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1371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1488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7 to 8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and governance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52360" y="1691640"/>
            <a:ext cx="105156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0" y="13716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21488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 to 10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326880" y="1691640"/>
            <a:ext cx="1051560" cy="0"/>
          </a:xfrm>
          <a:prstGeom prst="line">
            <a:avLst/>
          </a:prstGeom>
          <a:noFill/>
          <a:ln w="19050">
            <a:solidFill>
              <a:srgbClr val="9AA5B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69880" y="1371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4698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921240" y="21488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11 to 12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8640" y="3566160"/>
            <a:ext cx="5486400" cy="2514600"/>
          </a:xfrm>
          <a:prstGeom prst="roundRect">
            <a:avLst>
              <a:gd name="adj" fmla="val 4364"/>
            </a:avLst>
          </a:prstGeom>
          <a:solidFill>
            <a:srgbClr val="E8F1F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adapted Scrum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2976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behaviour cannot be fully planned in advance: benchmark results each sprint decide what comes next. Waterfall and a hybrid were considered and rejected.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3566160"/>
            <a:ext cx="5394960" cy="251460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how you adapted Scrum, how cost and time were estimated, top three risks and mitigations]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led to retrieval with mandatory citations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5065776" cy="411480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   K18, S13 (Distinction)   S17 (Distinction)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926080"/>
                <a:gridCol w="2651760"/>
                <a:gridCol w="2651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 (chosen)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graph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Uses latest content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on re-index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needs retraining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if maintained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Cites its sources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by design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Partly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 for 12-week MVP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Hosted model with open-source fallback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training needed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 build needed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572000"/>
            <a:ext cx="11064240" cy="141732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two or three sources you cite, each checked against its claim (see fix list: Xia et al., Peng et al.)]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built: a question becomes a cited answer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1897380" cy="411480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   K26   K27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6459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Confluence and GitHub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94560" y="2057400"/>
            <a:ext cx="228600" cy="0"/>
          </a:xfrm>
          <a:prstGeom prst="line">
            <a:avLst/>
          </a:prstGeom>
          <a:noFill/>
          <a:ln w="2540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423160" y="1463040"/>
            <a:ext cx="16459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Ingestion: chunk and embed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69080" y="2057400"/>
            <a:ext cx="228600" cy="0"/>
          </a:xfrm>
          <a:prstGeom prst="line">
            <a:avLst/>
          </a:prstGeom>
          <a:noFill/>
          <a:ln w="2540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4297680" y="1463040"/>
            <a:ext cx="16459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0" y="2057400"/>
            <a:ext cx="228600" cy="0"/>
          </a:xfrm>
          <a:prstGeom prst="line">
            <a:avLst/>
          </a:prstGeom>
          <a:noFill/>
          <a:ln w="2540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6172200" y="1463040"/>
            <a:ext cx="16459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18120" y="2057400"/>
            <a:ext cx="228600" cy="0"/>
          </a:xfrm>
          <a:prstGeom prst="line">
            <a:avLst/>
          </a:prstGeom>
          <a:noFill/>
          <a:ln w="2540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8046720" y="1463040"/>
            <a:ext cx="1645920" cy="118872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and citation layer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92640" y="2057400"/>
            <a:ext cx="228600" cy="0"/>
          </a:xfrm>
          <a:prstGeom prst="line">
            <a:avLst/>
          </a:prstGeom>
          <a:noFill/>
          <a:ln w="25400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9921240" y="1463040"/>
            <a:ext cx="16459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interface and Slack bot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788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architecture from the proposal. Replace with the as-built diagram.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383280"/>
            <a:ext cx="5486400" cy="265176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demo clip or UI screenshot showing an answer with its citation]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3383280"/>
            <a:ext cx="5394960" cy="265176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one short code snippet (retrieval with citations or Slack handler), deployment pipeline and WCAG 2.2 AA approach]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quality control caught something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2665476" cy="411480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K25 (Distinction)   K27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120640" cy="466344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chart of benchmark accuracy by sprint against the 80% target. Use real results only]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caught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made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50-query benchmark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result]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change]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Citation checks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result]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change]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review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result]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change]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Accessibility test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result]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change]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test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result]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change]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delivery: deviations spotted and corrected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1129284" cy="411480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   S2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486400" cy="219456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planned versus actual sprint chart]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371600"/>
            <a:ext cx="5394960" cy="219456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one or two deviations, their cause, and how you resolved them; the risk that materialised]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plan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8056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E8F1F8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refresh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448056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E8F1F8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re-runs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448056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E8F1F8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and usage monitoring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448056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E8F1F8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updates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against KPIs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2281428" cy="411480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K4   K17   S13   B5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828800"/>
                <a:gridCol w="2468880"/>
                <a:gridCol w="283464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Spike duration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to 5 days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target]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result]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 accuracy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result]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 trust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 out of 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result]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 time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NFR3]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[To complete: result]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297680"/>
            <a:ext cx="5486400" cy="173736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quote from a pilot developer, and the Technical Architects panel decision]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4297680"/>
            <a:ext cx="5394960" cy="173736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how results were reported to each stakeholder group]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would keep, change and do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4585716" cy="411480"/>
          </a:xfrm>
          <a:prstGeom prst="roundRect">
            <a:avLst>
              <a:gd name="adj" fmla="val 33333"/>
            </a:avLst>
          </a:prstGeom>
          <a:solidFill>
            <a:srgbClr val="E8F1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 (Distinction)   S17 (Distinction)   K17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8F1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complete]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E8F1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554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031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complete]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E6F4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7532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priorities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10312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Index the four remaining platforms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protection impact assessment before indexing Slack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[To complete]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46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 I am happy to take questions.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B1: AM1 KSB map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1033272" cy="411480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21031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234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4, 10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K5 *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88920" y="1371600"/>
          <a:ext cx="21031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234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K15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K17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1, 10, 11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K18 *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K25 *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K26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371600"/>
          <a:ext cx="21031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234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K27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7, 8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 *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2, 4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5, 9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S5 *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371600"/>
          <a:ext cx="21031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234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S13 *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6, 10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2, 3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S17 *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6, 11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09760" y="1371600"/>
          <a:ext cx="21031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234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KSB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S18 *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S22 *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3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Distinction criterion (9 in total). All 25 AM1 KSBs appear on at least one main slide.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B2: risk and opportunity register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1033272" cy="411480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93192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full register with likelihood, impact, mitigation and owner]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question: What else could have gone wrong?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B3: decision matrix and cost-benefit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1033272" cy="411480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93192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recalculated matrix, weights and how they were agreed; confirmed costs]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question: How did you arrive at those weights?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B4: benchmark method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1033272" cy="411480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93192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who wrote the 50 queries, how answers were marked, example queries, known bias]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question: How do you know it is 80%?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B5: data flow and data protection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1033272" cy="411480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93192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data flow diagram and data protection screening outcome]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question: Where does the data go?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B6: sequence and use case diagrams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0"/>
            <a:ext cx="1033272" cy="411480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263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931920"/>
          </a:xfrm>
          <a:prstGeom prst="rect">
            <a:avLst/>
          </a:prstGeom>
          <a:solidFill>
            <a:srgbClr val="FFF2CC"/>
          </a:solidFill>
          <a:ln w="15875">
            <a:solidFill>
              <a:srgbClr val="B7950B"/>
            </a:solidFill>
            <a:prstDash val="dash"/>
          </a:ln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complete: sequence diagram (question to cited answer) and use case diagram]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question: Walk me through a request.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presentation</dc:title>
  <dc:subject>PptxGenJS Presentation</dc:subject>
  <dc:creator>PptxGenJS</dc:creator>
  <cp:lastModifiedBy>PptxGenJS</cp:lastModifiedBy>
  <cp:revision>1</cp:revision>
  <dcterms:created xsi:type="dcterms:W3CDTF">2026-09-30T20:14:16Z</dcterms:created>
  <dcterms:modified xsi:type="dcterms:W3CDTF">2026-09-30T20:14:16Z</dcterms:modified>
</cp:coreProperties>
</file>